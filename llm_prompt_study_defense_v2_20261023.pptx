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GPT-4o-mini</c:v>
                </c:pt>
              </c:strCache>
            </c:strRef>
          </c:tx>
          <c:spPr>
            <a:solidFill>
              <a:srgbClr val="C9C1B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E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Zero-shot</c:v>
                </c:pt>
                <c:pt idx="1">
                  <c:v>Few-shot</c:v>
                </c:pt>
                <c:pt idx="2">
                  <c:v>Chain-of-thought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0.877</c:v>
                </c:pt>
                <c:pt idx="1">
                  <c:v>0.87</c:v>
                </c:pt>
                <c:pt idx="2">
                  <c:v>0.879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42-4144-851F-290274E614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Mistral Small 3.2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E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Zero-shot</c:v>
                </c:pt>
                <c:pt idx="1">
                  <c:v>Few-shot</c:v>
                </c:pt>
                <c:pt idx="2">
                  <c:v>Chain-of-thought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0.93300000000000005</c:v>
                </c:pt>
                <c:pt idx="1">
                  <c:v>0.96</c:v>
                </c:pt>
                <c:pt idx="2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42-4144-851F-290274E614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E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3DC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686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6862"/>
                    </a:solidFill>
                    <a:latin typeface="Arial"/>
                  </a:rPr>
                  <a:t>Composite score (0–1)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1E1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Occurrences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E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Weak action</c:v>
                </c:pt>
                <c:pt idx="1">
                  <c:v>Hallucination</c:v>
                </c:pt>
                <c:pt idx="2">
                  <c:v>Injection missed</c:v>
                </c:pt>
                <c:pt idx="3">
                  <c:v>Wrong category</c:v>
                </c:pt>
                <c:pt idx="4">
                  <c:v>Missed escalation</c:v>
                </c:pt>
                <c:pt idx="5">
                  <c:v>Priority too low</c:v>
                </c:pt>
                <c:pt idx="6">
                  <c:v>Priority too high</c:v>
                </c:pt>
                <c:pt idx="7">
                  <c:v>Over-escalation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20</c:v>
                </c:pt>
                <c:pt idx="6">
                  <c:v>26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F-4223-A041-D392DD3BA1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1E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81B70-DF18-4099-89F2-3C5BC8C10034}" type="datetimeFigureOut"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E27F3-EC5B-48FD-9956-8B121F4A62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3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(0:30) Introduce yourself and the question: for a real business task, which prompting strategy should you ship — and is the strategy even the main lever?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 Business framing. Each output field maps to a business action: routing (category), SLA (priority), escalation (needs_human), security (injection flag), agent time (summary, next action). The output is a strict JSON schema validated with Pydantic.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 Every call goes through one client: exponential backoff with jitter on rate-limit, timeout and 5xx; client errors (400/401) are never retried. SHA-256 cache makes reruns free and reproducible. All 180 outputs were valid JSON on the first try, so format is solved and differences are about judgement. Judge is from a different provider family to limit self-enhancement bias.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 Controlled design: only the strategy block differs, so differences are attributable to the strategy. Few-shot includes one injection example. CoT reasoning sits inside JSON so output stays parseable, and is stripped before judging to avoid length bias.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 Weights follow business cost: wrong queue and wrong priority are most expensive. Priority gives half credit for one level off. Ambiguous cases accept several labels. Dataset is hand-written synthetic because real tickets contain personal data — a limitation I'll come back to.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(1:30) Y-axis starts at 0.80. Every Mistral variant beats every GPT variant; Mistral few-shot's CI doesn't overlap any GPT variant (best GPT upper bound 0.911). Within GPT the strategies are indistinguishable. Caveat: Mistral few-shot vs zero-shot (0.933) CIs overlap — not conclusive at n=30. Few-shot vs CoT is conclusive.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(0:45) Read the columns: format 1.00 everywhere; category near-perfect. Escalation separates the models (GPT 0.78–0.83 vs Mistral 0.95–1.00). Actionability is the weakest for everyone (0.69–0.79): next steps are correct but generic.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(1:30) Totals across all 180 runs. Over-escalation: models read any login/data topic as a 'security concern' — vague rule; fix with an explicit list. Priority errors are mostly one level off on P2/P3; the costly ones are the missed P1s. Injection: defences held (nothing obeyed or leaked) but detection failed on the indirect attack hidden in a log (T26). CoT: free-text reasoning talks the model into more severe readings.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 Mistral few-shot and zero-shot are Pareto-optimal on cost vs quality. Evaluation dominates cost. Be upfront on the judge: high position bias (why pairwise is only supporting evidence) and moderate agreement with my 15 hand scores (40% / 60%). So the two judge-scored criteria — 30% of the weight — are the least reliable; the 70% automatic criteria are unaffected.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 Mistral few-shot: 0.960 composite, 0 schema and 0 injection failures, $0.10 per 1,000 tickets, Pareto-optimal. Say the caveat: vs Mistral zero-shot not significant at n=30; few-shot preferred for actionability and a 17–1 position-controlled pairwise win. Next: 100+ anonymised real tickets with double labelling, tighter escalation rule, --repeats 3, larger judge calibration. Then Q&amp;A.
[Sources] results/REPORT.md, results/figures, data/human_spotcheck.csv (run 23 Oct 2026 via OpenRouter); MSA-DATI07-08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168" cy="20116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Fundamentals · MSA-DATI07-08 · CC2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Zero-shot, few-shot or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prompt-engineering study on B2B support-ticket triage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9525">
            <a:solidFill>
              <a:srgbClr val="E3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Jules Bordais · Albert School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ticket needs a queue, a priority and an owner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Finlyt — a fictional B2B treasury &amp; payments SaaS — receives support tickets in English and French. Triage today is manual. A wrong priority on a payments outage means an SLA breach.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strategy gives the best quality, at what cost and latency — and which variant should we deploy?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34747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9659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·  7 labels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 ·  P1–P4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needs_human  ·  true / false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injection_suspected  ·  true / false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 ·  ≤ 50 words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next_action  ·  one step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models × 3 strategies × 30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via OpenRouter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API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3680" y="2029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failures or retries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(OpenAI)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Small 3.2 24B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5.5 (Anthropic) — different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STRATEGIES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 core, one block changes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label definitions and priority policy. Answer directly.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~570 input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+ 4 worked examples, written apart from the test set.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~1,100 input tokens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+ 5 reasoning steps in a JSON field, hidden from the judge.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output tokens (2×)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all: ticket wrapped as untrusted data · non-overridable rules · secret canary for leak detection · temperature 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test cases, 6 weighted criteria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754880" cy="243230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calibration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&amp; injection 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Next-action actionability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8288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r>
              <a:rPr lang="en-US" sz="13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3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/ mixed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email threads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the weight needs no judge.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mattered more than the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43600" y="2029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few-shot · 95% CI 0.944–0.973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43600" y="3081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from switching model, vs ≤ +0.04 from strategy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tie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943600" y="4133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strategies 0.870–0.879, CIs overlap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CRITERION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is solved; actionability is the headroom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6883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· 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44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2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· Few-shot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· CoT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44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2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· 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44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2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· Few-shot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· CoT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44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2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below 0.75. Mistral few-shot is the only variant with perfect escalation.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Judgement errors, not format errors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44805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417320"/>
            <a:ext cx="45720" cy="6583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Over-escalation · 33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0352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tickets sent to a human, mostly GPT. Fix: explicit escalation list.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221992"/>
            <a:ext cx="45720" cy="6583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P1s under-prioritised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03520" y="2496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login, T21 SEPA (French), T27 data leak. Fix: rule-based P1 floor.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026664"/>
            <a:ext cx="45720" cy="6583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Injection: missed, never obeyed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303520" y="33009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unflagged (GPT); 0 obeyed, 0 prompt leaks.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3831336"/>
            <a:ext cx="45720" cy="6583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didn't pay off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03520" y="41056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output tokens, +0.9 s, lower Mistral priority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JUDGE 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to run; the judge needs calibration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tickets, Mistral few-shot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1.04 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350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cost vs generation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9525">
            <a:solidFill>
              <a:srgbClr val="E3DC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verdicts flipped when A/B swapped → counted as 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0.20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link between summary length and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/ 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human–judge agreement (±1 pt), faithfulness / actionability, n =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Mistral Small 3.2 + few-shot, with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Study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146304" cy="14630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P1, needs_human or injection-flagged ticket goes to an agent.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45920"/>
            <a:ext cx="146304" cy="14630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P1 floor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payments, cross-customer data, unknown-country logins ≥ P1.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645920"/>
            <a:ext cx="146304" cy="14630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gate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240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model version; re-run the 30 cases (≈ $0.20) on every change.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model before the prompt.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is not free, and didn't help on short classification.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held; detection didn't — keep humans on high-risk tickets.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657acc1-34e3-4c48-9624-445584ea5fc0}" enabled="1" method="Privileged" siteId="{9a839770-e9fc-4737-905c-370f65b0e22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Prompt Engineering Study</dc:title>
  <dc:subject>PptxGenJS Presentation</dc:subject>
  <dc:creator>BORDAIS Jules</dc:creator>
  <cp:lastModifiedBy>BORDAIS Jules</cp:lastModifiedBy>
  <cp:revision>2</cp:revision>
  <dcterms:created xsi:type="dcterms:W3CDTF">2026-10-23T14:41:01Z</dcterms:created>
  <dcterms:modified xsi:type="dcterms:W3CDTF">2026-10-23T14:42:53Z</dcterms:modified>
</cp:coreProperties>
</file>